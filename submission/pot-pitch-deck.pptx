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737360" cy="6858000"/>
          </a:xfrm>
          <a:custGeom>
            <a:avLst/>
            <a:gdLst/>
            <a:ahLst/>
            <a:cxnLst/>
            <a:rect l="l" t="t" r="r" b="b"/>
            <a:pathLst>
              <a:path w="1737360" h="6858000">
                <a:moveTo>
                  <a:pt x="0" y="6858000"/>
                </a:moveTo>
                <a:lnTo>
                  <a:pt x="1563624" y="0"/>
                </a:lnTo>
                <a:lnTo>
                  <a:pt x="1737360" y="0"/>
                </a:lnTo>
                <a:lnTo>
                  <a:pt x="173736" y="685800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0"/>
            <a:ext cx="2377440" cy="6858000"/>
          </a:xfrm>
          <a:custGeom>
            <a:avLst/>
            <a:gdLst/>
            <a:ahLst/>
            <a:cxnLst/>
            <a:rect l="l" t="t" r="r" b="b"/>
            <a:pathLst>
              <a:path w="2377440" h="6858000">
                <a:moveTo>
                  <a:pt x="0" y="6858000"/>
                </a:moveTo>
                <a:lnTo>
                  <a:pt x="1307592" y="0"/>
                </a:lnTo>
                <a:lnTo>
                  <a:pt x="2377440" y="0"/>
                </a:lnTo>
                <a:lnTo>
                  <a:pt x="1069848" y="685800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0"/>
            <a:ext cx="2224735" cy="6858000"/>
          </a:xfrm>
          <a:custGeom>
            <a:avLst/>
            <a:gdLst/>
            <a:ahLst/>
            <a:cxnLst/>
            <a:rect l="l" t="t" r="r" b="b"/>
            <a:pathLst>
              <a:path w="2224735" h="6858000">
                <a:moveTo>
                  <a:pt x="778657" y="0"/>
                </a:moveTo>
                <a:lnTo>
                  <a:pt x="2224735" y="0"/>
                </a:lnTo>
                <a:lnTo>
                  <a:pt x="222473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C3C5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914400" cy="201168"/>
          </a:xfrm>
          <a:custGeom>
            <a:avLst/>
            <a:gdLst/>
            <a:ahLst/>
            <a:cxnLst/>
            <a:rect l="l" t="t" r="r" b="b"/>
            <a:pathLst>
              <a:path w="914400" h="201168">
                <a:moveTo>
                  <a:pt x="0" y="201168"/>
                </a:moveTo>
                <a:lnTo>
                  <a:pt x="66111" y="0"/>
                </a:lnTo>
                <a:lnTo>
                  <a:pt x="114483" y="0"/>
                </a:lnTo>
                <a:lnTo>
                  <a:pt x="48372" y="201168"/>
                </a:lnTo>
                <a:close/>
                <a:moveTo>
                  <a:pt x="133320" y="201168"/>
                </a:moveTo>
                <a:lnTo>
                  <a:pt x="199431" y="0"/>
                </a:lnTo>
                <a:lnTo>
                  <a:pt x="247802" y="0"/>
                </a:lnTo>
                <a:lnTo>
                  <a:pt x="181691" y="201168"/>
                </a:lnTo>
                <a:close/>
                <a:moveTo>
                  <a:pt x="266639" y="201168"/>
                </a:moveTo>
                <a:lnTo>
                  <a:pt x="332750" y="0"/>
                </a:lnTo>
                <a:lnTo>
                  <a:pt x="381122" y="0"/>
                </a:lnTo>
                <a:lnTo>
                  <a:pt x="315011" y="201168"/>
                </a:lnTo>
                <a:close/>
                <a:moveTo>
                  <a:pt x="399959" y="201168"/>
                </a:moveTo>
                <a:lnTo>
                  <a:pt x="466070" y="0"/>
                </a:lnTo>
                <a:lnTo>
                  <a:pt x="514441" y="0"/>
                </a:lnTo>
                <a:lnTo>
                  <a:pt x="448330" y="201168"/>
                </a:lnTo>
                <a:close/>
                <a:moveTo>
                  <a:pt x="533278" y="201168"/>
                </a:moveTo>
                <a:lnTo>
                  <a:pt x="599389" y="0"/>
                </a:lnTo>
                <a:lnTo>
                  <a:pt x="647761" y="0"/>
                </a:lnTo>
                <a:lnTo>
                  <a:pt x="581650" y="201168"/>
                </a:lnTo>
                <a:close/>
                <a:moveTo>
                  <a:pt x="666598" y="201168"/>
                </a:moveTo>
                <a:lnTo>
                  <a:pt x="732709" y="0"/>
                </a:lnTo>
                <a:lnTo>
                  <a:pt x="781080" y="0"/>
                </a:lnTo>
                <a:lnTo>
                  <a:pt x="714969" y="201168"/>
                </a:lnTo>
                <a:close/>
                <a:moveTo>
                  <a:pt x="799917" y="201168"/>
                </a:moveTo>
                <a:lnTo>
                  <a:pt x="866028" y="0"/>
                </a:lnTo>
                <a:lnTo>
                  <a:pt x="914400" y="0"/>
                </a:lnTo>
                <a:lnTo>
                  <a:pt x="848289" y="201168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Prediction markets for your group chat, powered by Panta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Telegram groups turn their arguments into Panta markets, back a side from their phones, and get a receipt when they settle.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257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Baheet Adeniji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@pantapotbot  ·  pot-navy.vercel.app  ·  github.com/Baheet18/pot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Every group chat says </a:t>
            </a:r>
            <a:r>
              <a:rPr lang="en-US" sz="3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"bet?"</a:t>
            </a:r>
            <a:r>
              <a:rPr lang="en-US" sz="3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 Then nothing happens.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0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"Man U will lose on Saturday."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0C3C5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"BTC hits 150k by December."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70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"Obi joins ADC before 2027."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Nobody writes it down. Nobody agrees what counts. Nobody holds the money.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148840"/>
            <a:ext cx="0" cy="365760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Meanwhile, on Panta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26974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markets on Solana, fair payouts, a creator's cut, and a clean API.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But a market is only fun when your friends are on the other side, and most Panta markets have very little money in them today.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arguments live in group chats. The markets live on a website.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Four taps from argument to </a:t>
            </a:r>
            <a:r>
              <a:rPr lang="en-US" sz="3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receipt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291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86000"/>
            <a:ext cx="2606040" cy="73152"/>
          </a:xfrm>
          <a:prstGeom prst="rect">
            <a:avLst/>
          </a:prstGeom>
          <a:solidFill>
            <a:srgbClr val="FFD10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Make it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 types /new and the question. AI writes the YES/NO rule, sources and times (Lagos time).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82112" y="3749040"/>
            <a:ext cx="128016" cy="365760"/>
          </a:xfrm>
          <a:custGeom>
            <a:avLst/>
            <a:gdLst/>
            <a:ahLst/>
            <a:cxnLst/>
            <a:rect l="l" t="t" r="r" b="b"/>
            <a:pathLst>
              <a:path w="128016" h="365760">
                <a:moveTo>
                  <a:pt x="0" y="0"/>
                </a:moveTo>
                <a:lnTo>
                  <a:pt x="128016" y="182880"/>
                </a:lnTo>
                <a:lnTo>
                  <a:pt x="0" y="36576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2286000"/>
            <a:ext cx="2606040" cy="3291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2286000"/>
            <a:ext cx="2606040" cy="73152"/>
          </a:xfrm>
          <a:prstGeom prst="rect">
            <a:avLst/>
          </a:prstGeom>
          <a:solidFill>
            <a:srgbClr val="FFD101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61188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Create it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11880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 taps Create and signs in Phantom. They become the Panta creator and earn the creator's cut.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71032" y="3749040"/>
            <a:ext cx="128016" cy="365760"/>
          </a:xfrm>
          <a:custGeom>
            <a:avLst/>
            <a:gdLst/>
            <a:ahLst/>
            <a:cxnLst/>
            <a:rect l="l" t="t" r="r" b="b"/>
            <a:pathLst>
              <a:path w="128016" h="365760">
                <a:moveTo>
                  <a:pt x="0" y="0"/>
                </a:moveTo>
                <a:lnTo>
                  <a:pt x="128016" y="182880"/>
                </a:lnTo>
                <a:lnTo>
                  <a:pt x="0" y="36576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2286000"/>
            <a:ext cx="2606040" cy="3291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286000"/>
            <a:ext cx="2606040" cy="73152"/>
          </a:xfrm>
          <a:prstGeom prst="rect">
            <a:avLst/>
          </a:prstGeom>
          <a:solidFill>
            <a:srgbClr val="FFD10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3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40080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Join 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Members tap Buy YES or Buy NO on their phone, or buy from a Blink shared on X.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59952" y="3749040"/>
            <a:ext cx="128016" cy="365760"/>
          </a:xfrm>
          <a:custGeom>
            <a:avLst/>
            <a:gdLst/>
            <a:ahLst/>
            <a:cxnLst/>
            <a:rect l="l" t="t" r="r" b="b"/>
            <a:pathLst>
              <a:path w="128016" h="365760">
                <a:moveTo>
                  <a:pt x="0" y="0"/>
                </a:moveTo>
                <a:lnTo>
                  <a:pt x="128016" y="182880"/>
                </a:lnTo>
                <a:lnTo>
                  <a:pt x="0" y="36576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24" name="Shape 22"/>
          <p:cNvSpPr/>
          <p:nvPr/>
        </p:nvSpPr>
        <p:spPr>
          <a:xfrm>
            <a:off x="8915400" y="2286000"/>
            <a:ext cx="2606040" cy="3291840"/>
          </a:xfrm>
          <a:prstGeom prst="rect">
            <a:avLst/>
          </a:prstGeom>
          <a:solidFill>
            <a:srgbClr val="0C3C56"/>
          </a:solidFill>
          <a:ln/>
        </p:spPr>
      </p:sp>
      <p:sp>
        <p:nvSpPr>
          <p:cNvPr id="25" name="Shape 23"/>
          <p:cNvSpPr/>
          <p:nvPr/>
        </p:nvSpPr>
        <p:spPr>
          <a:xfrm>
            <a:off x="8915400" y="2286000"/>
            <a:ext cx="2606040" cy="73152"/>
          </a:xfrm>
          <a:prstGeom prst="rect">
            <a:avLst/>
          </a:prstGeom>
          <a:solidFill>
            <a:srgbClr val="FFD101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4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918972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Settle it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89720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the result is in, the bot posts a receipt: who backed which side, stake and payout.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 never holds keys or money. Every payment, buy and claim is signed by the user in their own wallet.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The AI writes a </a:t>
            </a:r>
            <a:r>
              <a:rPr lang="en-US" sz="30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fair</a:t>
            </a:r>
            <a:r>
              <a:rPr lang="en-US" sz="30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 market, and says no to bad ones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134600"/>
                </a:moveTo>
                <a:lnTo>
                  <a:pt x="52669" y="81930"/>
                </a:lnTo>
                <a:lnTo>
                  <a:pt x="111191" y="146304"/>
                </a:lnTo>
                <a:lnTo>
                  <a:pt x="239939" y="11704"/>
                </a:lnTo>
                <a:lnTo>
                  <a:pt x="292608" y="64374"/>
                </a:lnTo>
                <a:lnTo>
                  <a:pt x="111191" y="263347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77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Buying closes at kick-off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Checked on the server. If the start time is unknown, Pot asks.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134600"/>
                </a:moveTo>
                <a:lnTo>
                  <a:pt x="52669" y="81930"/>
                </a:lnTo>
                <a:lnTo>
                  <a:pt x="111191" y="146304"/>
                </a:lnTo>
                <a:lnTo>
                  <a:pt x="239939" y="11704"/>
                </a:lnTo>
                <a:lnTo>
                  <a:pt x="292608" y="64374"/>
                </a:lnTo>
                <a:lnTo>
                  <a:pt x="111191" y="263347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Personal bets get a polite no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9776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"Will Tolu pay me back?" can't be settled by a public source, so Pot suggests one that can.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134600"/>
                </a:moveTo>
                <a:lnTo>
                  <a:pt x="52669" y="81930"/>
                </a:lnTo>
                <a:lnTo>
                  <a:pt x="111191" y="146304"/>
                </a:lnTo>
                <a:lnTo>
                  <a:pt x="239939" y="11704"/>
                </a:lnTo>
                <a:lnTo>
                  <a:pt x="292608" y="64374"/>
                </a:lnTo>
                <a:lnTo>
                  <a:pt x="111191" y="263347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754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Big questions get split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51663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"Who wins BBNaija?" becomes a few YES/NO markets the admin picks, because Panta markets are binary.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00393" y="832104"/>
            <a:ext cx="4076495" cy="5102352"/>
          </a:xfrm>
          <a:prstGeom prst="rect">
            <a:avLst/>
          </a:prstGeom>
          <a:solidFill>
            <a:srgbClr val="0F0F0F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16" name="Image 0" descr="/workspace/slides/pot-deck-3pKWgb/img/d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6969" y="868680"/>
            <a:ext cx="4003343" cy="5029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36969" y="5989320"/>
            <a:ext cx="4003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/new draft in Telegram (practice mode)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Buy from the chat, the website, or </a:t>
            </a:r>
            <a:r>
              <a:rPr lang="en-US" sz="30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a post on 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Phantom on the web page. </a:t>
            </a:r>
            <a:r>
              <a:rPr lang="en-US" sz="15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Tap YES or NO, pick $2, $5, $10 or any amount, sign. "Open in Phantom" on mobile.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Blink on X. </a:t>
            </a:r>
            <a:r>
              <a:rPr lang="en-US" sz="15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Share the market link and Phantom or Backpack users see buy buttons right inside the post. Pot serves its own Solana Actions.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Credit for bringing people. </a:t>
            </a:r>
            <a:r>
              <a:rPr lang="en-US" sz="15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buy carries the group's or member's link, which feeds the /top leaderboard.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" y="4398264"/>
            <a:ext cx="5833872" cy="1869868"/>
          </a:xfrm>
          <a:prstGeom prst="rect">
            <a:avLst/>
          </a:prstGeom>
          <a:solidFill>
            <a:srgbClr val="0F0F0F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8" name="Image 0" descr="/workspace/slides/pot-deck-3pKWgb/img/bu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34840"/>
            <a:ext cx="5760720" cy="17967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940694" y="832104"/>
            <a:ext cx="2736194" cy="5330952"/>
          </a:xfrm>
          <a:prstGeom prst="rect">
            <a:avLst/>
          </a:prstGeom>
          <a:solidFill>
            <a:srgbClr val="0F0F0F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10" name="Image 1" descr="/workspace/slides/pot-deck-3pKWgb/img/b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270" y="868680"/>
            <a:ext cx="2663042" cy="525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20070" y="6172200"/>
            <a:ext cx="3120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Blink preview (practice market, demo data)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2064" y="832104"/>
            <a:ext cx="4243598" cy="5468112"/>
          </a:xfrm>
          <a:prstGeom prst="rect">
            <a:avLst/>
          </a:prstGeom>
          <a:solidFill>
            <a:srgbClr val="0F0F0F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6" name="Image 0" descr="/workspace/slides/pot-deck-3pKWgb/img/rece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4170446" cy="5394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59166" y="960120"/>
            <a:ext cx="822960" cy="182880"/>
          </a:xfrm>
          <a:custGeom>
            <a:avLst/>
            <a:gdLst/>
            <a:ahLst/>
            <a:cxnLst/>
            <a:rect l="l" t="t" r="r" b="b"/>
            <a:pathLst>
              <a:path w="822960" h="182880">
                <a:moveTo>
                  <a:pt x="0" y="182880"/>
                </a:moveTo>
                <a:lnTo>
                  <a:pt x="59500" y="0"/>
                </a:lnTo>
                <a:lnTo>
                  <a:pt x="103035" y="0"/>
                </a:lnTo>
                <a:lnTo>
                  <a:pt x="43535" y="182880"/>
                </a:lnTo>
                <a:close/>
                <a:moveTo>
                  <a:pt x="119988" y="182880"/>
                </a:moveTo>
                <a:lnTo>
                  <a:pt x="179488" y="0"/>
                </a:lnTo>
                <a:lnTo>
                  <a:pt x="223022" y="0"/>
                </a:lnTo>
                <a:lnTo>
                  <a:pt x="163522" y="182880"/>
                </a:lnTo>
                <a:close/>
                <a:moveTo>
                  <a:pt x="239975" y="182880"/>
                </a:moveTo>
                <a:lnTo>
                  <a:pt x="299475" y="0"/>
                </a:lnTo>
                <a:lnTo>
                  <a:pt x="343010" y="0"/>
                </a:lnTo>
                <a:lnTo>
                  <a:pt x="283510" y="182880"/>
                </a:lnTo>
                <a:close/>
                <a:moveTo>
                  <a:pt x="359963" y="182880"/>
                </a:moveTo>
                <a:lnTo>
                  <a:pt x="419463" y="0"/>
                </a:lnTo>
                <a:lnTo>
                  <a:pt x="462997" y="0"/>
                </a:lnTo>
                <a:lnTo>
                  <a:pt x="403497" y="182880"/>
                </a:lnTo>
                <a:close/>
                <a:moveTo>
                  <a:pt x="479950" y="182880"/>
                </a:moveTo>
                <a:lnTo>
                  <a:pt x="539450" y="0"/>
                </a:lnTo>
                <a:lnTo>
                  <a:pt x="582985" y="0"/>
                </a:lnTo>
                <a:lnTo>
                  <a:pt x="523485" y="182880"/>
                </a:lnTo>
                <a:close/>
                <a:moveTo>
                  <a:pt x="599938" y="182880"/>
                </a:moveTo>
                <a:lnTo>
                  <a:pt x="659438" y="0"/>
                </a:lnTo>
                <a:lnTo>
                  <a:pt x="702972" y="0"/>
                </a:lnTo>
                <a:lnTo>
                  <a:pt x="643472" y="182880"/>
                </a:lnTo>
                <a:close/>
                <a:moveTo>
                  <a:pt x="719925" y="182880"/>
                </a:moveTo>
                <a:lnTo>
                  <a:pt x="779425" y="0"/>
                </a:lnTo>
                <a:lnTo>
                  <a:pt x="822960" y="0"/>
                </a:lnTo>
                <a:lnTo>
                  <a:pt x="763460" y="18288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8" name="Text 5"/>
          <p:cNvSpPr/>
          <p:nvPr/>
        </p:nvSpPr>
        <p:spPr>
          <a:xfrm>
            <a:off x="5359166" y="1325880"/>
            <a:ext cx="62811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The receipt is </a:t>
            </a:r>
            <a:r>
              <a:rPr lang="en-US" sz="3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the product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359166" y="2514600"/>
            <a:ext cx="62811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a market settles, Pot posts one receipt in the group: the result, the final pot, the creator's cut, and every member's side, stake and payout.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59166" y="383133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0" y="109362"/>
                </a:moveTo>
                <a:lnTo>
                  <a:pt x="42794" y="66568"/>
                </a:lnTo>
                <a:lnTo>
                  <a:pt x="90343" y="118872"/>
                </a:lnTo>
                <a:lnTo>
                  <a:pt x="194950" y="9510"/>
                </a:lnTo>
                <a:lnTo>
                  <a:pt x="237744" y="52304"/>
                </a:lnTo>
                <a:lnTo>
                  <a:pt x="90343" y="21397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11" name="Text 8"/>
          <p:cNvSpPr/>
          <p:nvPr/>
        </p:nvSpPr>
        <p:spPr>
          <a:xfrm>
            <a:off x="5770646" y="3794760"/>
            <a:ext cx="58696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 turns "I told you so" into proof people screenshot.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59166" y="451713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0" y="109362"/>
                </a:moveTo>
                <a:lnTo>
                  <a:pt x="42794" y="66568"/>
                </a:lnTo>
                <a:lnTo>
                  <a:pt x="90343" y="118872"/>
                </a:lnTo>
                <a:lnTo>
                  <a:pt x="194950" y="9510"/>
                </a:lnTo>
                <a:lnTo>
                  <a:pt x="237744" y="52304"/>
                </a:lnTo>
                <a:lnTo>
                  <a:pt x="90343" y="21397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13" name="Text 10"/>
          <p:cNvSpPr/>
          <p:nvPr/>
        </p:nvSpPr>
        <p:spPr>
          <a:xfrm>
            <a:off x="5770646" y="4480560"/>
            <a:ext cx="58696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Payout maths follows Panta's rules, marked "approx" until Panta's 1-hour dispute window ends.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59166" y="520293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0" y="109362"/>
                </a:moveTo>
                <a:lnTo>
                  <a:pt x="42794" y="66568"/>
                </a:lnTo>
                <a:lnTo>
                  <a:pt x="90343" y="118872"/>
                </a:lnTo>
                <a:lnTo>
                  <a:pt x="194950" y="9510"/>
                </a:lnTo>
                <a:lnTo>
                  <a:pt x="237744" y="52304"/>
                </a:lnTo>
                <a:lnTo>
                  <a:pt x="90343" y="21397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15" name="Text 12"/>
          <p:cNvSpPr/>
          <p:nvPr/>
        </p:nvSpPr>
        <p:spPr>
          <a:xfrm>
            <a:off x="5770646" y="5166360"/>
            <a:ext cx="58696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One-sided markets get honest wording: nobody won or lost.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59166" y="5943600"/>
            <a:ext cx="62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receipt from Pot's test group (practice money).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Built on Panta's API for the </a:t>
            </a:r>
            <a:r>
              <a:rPr lang="en-US" sz="3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whole life</a:t>
            </a:r>
            <a:r>
              <a:rPr lang="en-US" sz="3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 of a market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16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endpoints used, from making a market to claiming the creator's cut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Rate-limited and cached reads. Only allow-listed writes. A second lock blocks every live write until it's switched on.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2148840"/>
          <a:ext cx="76169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382512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  <a:latin typeface="Russo One" pitchFamily="34" charset="0"/>
                          <a:ea typeface="Russo One" pitchFamily="34" charset="-122"/>
                          <a:cs typeface="Russo One" pitchFamily="34" charset="-120"/>
                        </a:rPr>
                        <a:t>Read</a:t>
                      </a:r>
                      <a:endParaRPr lang="en-US" sz="1500" dirty="0">
                        <a:latin typeface="Russo One" charset="0"/>
                        <a:ea typeface="Russo One" charset="0"/>
                        <a:cs typeface="Russo One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GET /markets/ · /markets/{id}/ · /markets/{id}/trades/ · /positions/ · /wallets/{w}/trades/ · /trades/{sig}/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  <a:latin typeface="Russo One" pitchFamily="34" charset="0"/>
                          <a:ea typeface="Russo One" pitchFamily="34" charset="-122"/>
                          <a:cs typeface="Russo One" pitchFamily="34" charset="-120"/>
                        </a:rPr>
                        <a:t>Buy</a:t>
                      </a:r>
                      <a:endParaRPr lang="en-US" sz="1500" dirty="0">
                        <a:latin typeface="Russo One" charset="0"/>
                        <a:ea typeface="Russo One" charset="0"/>
                        <a:cs typeface="Russo One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primaryorderquote → primaryorderbuild → wallet signs → primaryordersubmit → primaryorderverify → /trades/ (credits the group's link)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  <a:latin typeface="Russo One" pitchFamily="34" charset="0"/>
                          <a:ea typeface="Russo One" pitchFamily="34" charset="-122"/>
                          <a:cs typeface="Russo One" pitchFamily="34" charset="-120"/>
                        </a:rPr>
                        <a:t>Create</a:t>
                      </a:r>
                      <a:endParaRPr lang="en-US" sz="1500" dirty="0">
                        <a:latin typeface="Russo One" charset="0"/>
                        <a:ea typeface="Russo One" charset="0"/>
                        <a:cs typeface="Russo One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markets/create/quote → markets/create/build → admin signs and pays → markets/register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  <a:latin typeface="Russo One" pitchFamily="34" charset="0"/>
                          <a:ea typeface="Russo One" pitchFamily="34" charset="-122"/>
                          <a:cs typeface="Russo One" pitchFamily="34" charset="-120"/>
                        </a:rPr>
                        <a:t>Claim</a:t>
                      </a:r>
                      <a:endParaRPr lang="en-US" sz="1500" dirty="0">
                        <a:latin typeface="Russo One" charset="0"/>
                        <a:ea typeface="Russo One" charset="0"/>
                        <a:cs typeface="Russo One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claim/build (winnings) · claim/creator-fees/build (creator's cut) → /trades/ report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Every Telegram group becomes a </a:t>
            </a:r>
            <a:r>
              <a:rPr lang="en-US" sz="3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Panta venue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Football fan groups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Crypto trading chats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Campus and church groups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0C3C5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956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Influencer communities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94760" y="3657600"/>
            <a:ext cx="731520" cy="0"/>
          </a:xfrm>
          <a:prstGeom prst="line">
            <a:avLst/>
          </a:prstGeom>
          <a:noFill/>
          <a:ln w="38100">
            <a:solidFill>
              <a:srgbClr val="FFD10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2788920"/>
            <a:ext cx="2103120" cy="1737360"/>
          </a:xfrm>
          <a:prstGeom prst="roundRect">
            <a:avLst>
              <a:gd name="adj" fmla="val 7895"/>
            </a:avLst>
          </a:prstGeom>
          <a:solidFill>
            <a:srgbClr val="FFD101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bot + website + Blinks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3657600"/>
            <a:ext cx="731520" cy="0"/>
          </a:xfrm>
          <a:prstGeom prst="line">
            <a:avLst/>
          </a:prstGeom>
          <a:noFill/>
          <a:ln w="38100">
            <a:solidFill>
              <a:srgbClr val="FFD10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2788920"/>
            <a:ext cx="1737360" cy="1737360"/>
          </a:xfrm>
          <a:prstGeom prst="roundRect">
            <a:avLst>
              <a:gd name="adj" fmla="val 7895"/>
            </a:avLst>
          </a:prstGeom>
          <a:solidFill>
            <a:srgbClr val="0C3C56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PANTA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3524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markets on Solana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Community owner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0" y="25877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earns the creator's cut on every market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Members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92640" y="37307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play with friends, from their phones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Panta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0" y="48737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people, local markets, real volume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 doesn't compete with Panta's website. It brings people to Panta from where they already spend time.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Practice mode today. </a:t>
            </a:r>
            <a:r>
              <a:rPr lang="en-US" sz="30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Live mode is one command away.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766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88920"/>
                <a:gridCol w="2788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Russo One" charset="0"/>
                        <a:ea typeface="Russo One" charset="0"/>
                        <a:cs typeface="Russo One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Russo One" pitchFamily="34" charset="0"/>
                          <a:ea typeface="Russo One" pitchFamily="34" charset="-122"/>
                          <a:cs typeface="Russo One" pitchFamily="34" charset="-120"/>
                        </a:rPr>
                        <a:t>Practice (running now)</a:t>
                      </a:r>
                      <a:endParaRPr lang="en-US" sz="1400" dirty="0">
                        <a:latin typeface="Russo One" charset="0"/>
                        <a:ea typeface="Russo One" charset="0"/>
                        <a:cs typeface="Russo One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Russo One" pitchFamily="34" charset="0"/>
                          <a:ea typeface="Russo One" pitchFamily="34" charset="-122"/>
                          <a:cs typeface="Russo One" pitchFamily="34" charset="-120"/>
                        </a:rPr>
                        <a:t>Live (built, switched off)</a:t>
                      </a:r>
                      <a:endParaRPr lang="en-US" sz="1400" dirty="0">
                        <a:latin typeface="Russo One" charset="0"/>
                        <a:ea typeface="Russo One" charset="0"/>
                        <a:cs typeface="Russo One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Money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None. Wallets sign a free message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Real USDC on Solana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Markets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Tracked by Pot with Panta's payout rules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Created on Panta by the admin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Result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Group admin runs /settle yes|no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Panta's own result, then receipt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Checked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Real people, real groups, real phones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F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Read-only calls to Panta's live API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1206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Switch: scripts/go-live.sh · Back: scripts/rollback-to-practice.sh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63840" y="2103120"/>
            <a:ext cx="3776472" cy="3886200"/>
          </a:xfrm>
          <a:prstGeom prst="rect">
            <a:avLst/>
          </a:prstGeom>
          <a:solidFill>
            <a:srgbClr val="0C3C56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228600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Practice run with a real community</a:t>
            </a:r>
            <a:endParaRPr lang="en-US" sz="1600" dirty="0"/>
          </a:p>
        </p:txBody>
      </p:sp>
      <p:sp>
        <p:nvSpPr>
          <p:cNvPr id="19" name="Text 7"/>
          <p:cNvSpPr/>
          <p:nvPr/>
        </p:nvSpPr>
        <p:spPr>
          <a:xfrm>
            <a:off x="8138160" y="3017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[N]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189720" y="310896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practice markets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36758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[N]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189720" y="376732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people who bought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38160" y="43342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[N]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189720" y="4425696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buys from a shared link or Blink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38160" y="49926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[N]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189720" y="508406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receipts posted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38160" y="553212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[GROUP NAME], [MEMBERS] members. Replace before submitting.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POT</a:t>
            </a: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·  powered by Panta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Panta API Sidetrack · Colosseum Crypto World's Fair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0"/>
            <a:ext cx="1097280" cy="6858000"/>
          </a:xfrm>
          <a:custGeom>
            <a:avLst/>
            <a:gdLst/>
            <a:ahLst/>
            <a:cxnLst/>
            <a:rect l="l" t="t" r="r" b="b"/>
            <a:pathLst>
              <a:path w="1097280" h="6858000">
                <a:moveTo>
                  <a:pt x="0" y="6858000"/>
                </a:moveTo>
                <a:lnTo>
                  <a:pt x="987552" y="0"/>
                </a:lnTo>
                <a:lnTo>
                  <a:pt x="1097280" y="0"/>
                </a:lnTo>
                <a:lnTo>
                  <a:pt x="109728" y="6858000"/>
                </a:lnTo>
                <a:close/>
              </a:path>
            </a:pathLst>
          </a:custGeom>
          <a:solidFill>
            <a:srgbClr val="FFD101"/>
          </a:solidFill>
          <a:ln/>
        </p:spPr>
      </p:sp>
      <p:sp>
        <p:nvSpPr>
          <p:cNvPr id="6" name="Shape 4"/>
          <p:cNvSpPr/>
          <p:nvPr/>
        </p:nvSpPr>
        <p:spPr>
          <a:xfrm>
            <a:off x="10469880" y="0"/>
            <a:ext cx="1721815" cy="6858000"/>
          </a:xfrm>
          <a:custGeom>
            <a:avLst/>
            <a:gdLst/>
            <a:ahLst/>
            <a:cxnLst/>
            <a:rect l="l" t="t" r="r" b="b"/>
            <a:pathLst>
              <a:path w="1721815" h="6858000">
                <a:moveTo>
                  <a:pt x="688726" y="0"/>
                </a:moveTo>
                <a:lnTo>
                  <a:pt x="1721815" y="0"/>
                </a:lnTo>
                <a:lnTo>
                  <a:pt x="172181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C3C5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What's </a:t>
            </a:r>
            <a:r>
              <a:rPr lang="en-US" sz="3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next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88366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 live in one group: the ~$21 smoke test in GO-LIVE.md, then one real market.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Bring in 2-3 Nigerian football and crypto communities, then influencer communities.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receipts, one-tap match-day markets, and an owner dashboard.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41330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WhatsApp communities and Discord servers next. The core isn't tied to Telegram.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859536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101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Try it: </a:t>
            </a: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@pantapotbot on Telegram  ·  pot-navy.vercel.app  ·  github.com/Baheet18/pot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715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 financial advice. Payouts shown are estimates. Powered by Panta.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Pot: prediction markets for your group chat</dc:title>
  <dc:subject>PptxGenJS Presentation</dc:subject>
  <dc:creator>Baheet Adeniji</dc:creator>
  <cp:lastModifiedBy>Baheet Adeniji</cp:lastModifiedBy>
  <cp:revision>1</cp:revision>
  <dcterms:created xsi:type="dcterms:W3CDTF">2026-10-07T13:38:40Z</dcterms:created>
  <dcterms:modified xsi:type="dcterms:W3CDTF">2026-10-07T13:38:40Z</dcterms:modified>
</cp:coreProperties>
</file>