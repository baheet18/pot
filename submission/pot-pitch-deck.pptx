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0"/>
            <a:ext cx="1737360" cy="6858000"/>
          </a:xfrm>
          <a:custGeom>
            <a:avLst/>
            <a:gdLst/>
            <a:ahLst/>
            <a:cxnLst/>
            <a:rect l="l" t="t" r="r" b="b"/>
            <a:pathLst>
              <a:path w="1737360" h="6858000">
                <a:moveTo>
                  <a:pt x="0" y="6858000"/>
                </a:moveTo>
                <a:lnTo>
                  <a:pt x="1563624" y="0"/>
                </a:lnTo>
                <a:lnTo>
                  <a:pt x="1737360" y="0"/>
                </a:lnTo>
                <a:lnTo>
                  <a:pt x="173736" y="6858000"/>
                </a:lnTo>
                <a:close/>
              </a:path>
            </a:pathLst>
          </a:custGeom>
          <a:solidFill>
            <a:srgbClr val="FFD101"/>
          </a:solidFill>
          <a:ln/>
        </p:spPr>
      </p:sp>
      <p:sp>
        <p:nvSpPr>
          <p:cNvPr id="3" name="Shape 1"/>
          <p:cNvSpPr/>
          <p:nvPr/>
        </p:nvSpPr>
        <p:spPr>
          <a:xfrm>
            <a:off x="8366760" y="0"/>
            <a:ext cx="2377440" cy="6858000"/>
          </a:xfrm>
          <a:custGeom>
            <a:avLst/>
            <a:gdLst/>
            <a:ahLst/>
            <a:cxnLst/>
            <a:rect l="l" t="t" r="r" b="b"/>
            <a:pathLst>
              <a:path w="2377440" h="6858000">
                <a:moveTo>
                  <a:pt x="0" y="6858000"/>
                </a:moveTo>
                <a:lnTo>
                  <a:pt x="1307592" y="0"/>
                </a:lnTo>
                <a:lnTo>
                  <a:pt x="2377440" y="0"/>
                </a:lnTo>
                <a:lnTo>
                  <a:pt x="1069848" y="6858000"/>
                </a:lnTo>
                <a:close/>
              </a:path>
            </a:pathLst>
          </a:custGeom>
          <a:solidFill>
            <a:srgbClr val="FFD101"/>
          </a:solidFill>
          <a:ln/>
        </p:spPr>
      </p:sp>
      <p:sp>
        <p:nvSpPr>
          <p:cNvPr id="4" name="Shape 2"/>
          <p:cNvSpPr/>
          <p:nvPr/>
        </p:nvSpPr>
        <p:spPr>
          <a:xfrm>
            <a:off x="9966960" y="0"/>
            <a:ext cx="2224735" cy="6858000"/>
          </a:xfrm>
          <a:custGeom>
            <a:avLst/>
            <a:gdLst/>
            <a:ahLst/>
            <a:cxnLst/>
            <a:rect l="l" t="t" r="r" b="b"/>
            <a:pathLst>
              <a:path w="2224735" h="6858000">
                <a:moveTo>
                  <a:pt x="778657" y="0"/>
                </a:moveTo>
                <a:lnTo>
                  <a:pt x="2224735" y="0"/>
                </a:lnTo>
                <a:lnTo>
                  <a:pt x="2224735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C3C5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40080"/>
            <a:ext cx="914400" cy="201168"/>
          </a:xfrm>
          <a:custGeom>
            <a:avLst/>
            <a:gdLst/>
            <a:ahLst/>
            <a:cxnLst/>
            <a:rect l="l" t="t" r="r" b="b"/>
            <a:pathLst>
              <a:path w="914400" h="201168">
                <a:moveTo>
                  <a:pt x="0" y="201168"/>
                </a:moveTo>
                <a:lnTo>
                  <a:pt x="66111" y="0"/>
                </a:lnTo>
                <a:lnTo>
                  <a:pt x="114483" y="0"/>
                </a:lnTo>
                <a:lnTo>
                  <a:pt x="48372" y="201168"/>
                </a:lnTo>
                <a:close/>
                <a:moveTo>
                  <a:pt x="133320" y="201168"/>
                </a:moveTo>
                <a:lnTo>
                  <a:pt x="199431" y="0"/>
                </a:lnTo>
                <a:lnTo>
                  <a:pt x="247802" y="0"/>
                </a:lnTo>
                <a:lnTo>
                  <a:pt x="181691" y="201168"/>
                </a:lnTo>
                <a:close/>
                <a:moveTo>
                  <a:pt x="266639" y="201168"/>
                </a:moveTo>
                <a:lnTo>
                  <a:pt x="332750" y="0"/>
                </a:lnTo>
                <a:lnTo>
                  <a:pt x="381122" y="0"/>
                </a:lnTo>
                <a:lnTo>
                  <a:pt x="315011" y="201168"/>
                </a:lnTo>
                <a:close/>
                <a:moveTo>
                  <a:pt x="399959" y="201168"/>
                </a:moveTo>
                <a:lnTo>
                  <a:pt x="466070" y="0"/>
                </a:lnTo>
                <a:lnTo>
                  <a:pt x="514441" y="0"/>
                </a:lnTo>
                <a:lnTo>
                  <a:pt x="448330" y="201168"/>
                </a:lnTo>
                <a:close/>
                <a:moveTo>
                  <a:pt x="533278" y="201168"/>
                </a:moveTo>
                <a:lnTo>
                  <a:pt x="599389" y="0"/>
                </a:lnTo>
                <a:lnTo>
                  <a:pt x="647761" y="0"/>
                </a:lnTo>
                <a:lnTo>
                  <a:pt x="581650" y="201168"/>
                </a:lnTo>
                <a:close/>
                <a:moveTo>
                  <a:pt x="666598" y="201168"/>
                </a:moveTo>
                <a:lnTo>
                  <a:pt x="732709" y="0"/>
                </a:lnTo>
                <a:lnTo>
                  <a:pt x="781080" y="0"/>
                </a:lnTo>
                <a:lnTo>
                  <a:pt x="714969" y="201168"/>
                </a:lnTo>
                <a:close/>
                <a:moveTo>
                  <a:pt x="799917" y="201168"/>
                </a:moveTo>
                <a:lnTo>
                  <a:pt x="866028" y="0"/>
                </a:lnTo>
                <a:lnTo>
                  <a:pt x="914400" y="0"/>
                </a:lnTo>
                <a:lnTo>
                  <a:pt x="848289" y="201168"/>
                </a:lnTo>
                <a:close/>
              </a:path>
            </a:pathLst>
          </a:custGeom>
          <a:solidFill>
            <a:srgbClr val="FFD10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801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POT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Prediction markets for your group chat, powered by Panta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Any debate in a group chat becomes a Panta market: BBNaija, elections, celebrity news, movies, music drops and streams, football. Members back a side from their phones and get a receipt when it settles.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52578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Baheet Adeniji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@pantapotbot  ·  pot-navy.vercel.app  ·  github.com/Baheet18/pot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Panta API Sidetrack · Colosseum Crypto World's Fair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62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POT</a:t>
            </a:r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·  powered by Panta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Panta API Sidetrack · Colosseum Crypto World's Fair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8655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Every group chat says </a:t>
            </a:r>
            <a:pPr indent="0" marL="0">
              <a:buNone/>
            </a:pPr>
            <a:r>
              <a:rPr lang="en-US" sz="3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"bet?"</a:t>
            </a:r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 Then nothing happens.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33333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"Your fave is getting evicted this Sunday."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0C3C5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101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"That album does 100M streams in week one."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333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2702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"Super Eagles will lose on Saturday."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51206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BBNaija, elections, celebrity news, movies, music, football: nobody writes it down, agrees what counts, or holds the money.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0" y="2148840"/>
            <a:ext cx="0" cy="365760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148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Meanwhile, on Panta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5800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Real markets on Solana, fair payouts, a creator's cut, and a clean API.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But a market is only fun when your friends are on the other side, and most Panta markets have very little money in them today.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arguments live in group chats. The markets live on a website.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62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POT</a:t>
            </a:r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·  powered by Panta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Panta API Sidetrack · Colosseum Crypto World's Fair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8655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Four taps from argument to </a:t>
            </a:r>
            <a:pPr indent="0" marL="0">
              <a:buNone/>
            </a:pPr>
            <a:r>
              <a:rPr lang="en-US" sz="3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receipt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606040" cy="329184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286000"/>
            <a:ext cx="2606040" cy="73152"/>
          </a:xfrm>
          <a:prstGeom prst="rect">
            <a:avLst/>
          </a:prstGeom>
          <a:solidFill>
            <a:srgbClr val="FFD10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6060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1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Make it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40690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Admin types /new and the question. AI writes the YES/NO rule, sources and times (Lagos time).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82112" y="3749040"/>
            <a:ext cx="128016" cy="365760"/>
          </a:xfrm>
          <a:custGeom>
            <a:avLst/>
            <a:gdLst/>
            <a:ahLst/>
            <a:cxnLst/>
            <a:rect l="l" t="t" r="r" b="b"/>
            <a:pathLst>
              <a:path w="128016" h="365760">
                <a:moveTo>
                  <a:pt x="0" y="0"/>
                </a:moveTo>
                <a:lnTo>
                  <a:pt x="128016" y="182880"/>
                </a:lnTo>
                <a:lnTo>
                  <a:pt x="0" y="365760"/>
                </a:lnTo>
                <a:close/>
              </a:path>
            </a:pathLst>
          </a:custGeom>
          <a:solidFill>
            <a:srgbClr val="FFD101"/>
          </a:solidFill>
          <a:ln/>
        </p:spPr>
      </p:sp>
      <p:sp>
        <p:nvSpPr>
          <p:cNvPr id="12" name="Shape 10"/>
          <p:cNvSpPr/>
          <p:nvPr/>
        </p:nvSpPr>
        <p:spPr>
          <a:xfrm>
            <a:off x="3337560" y="2286000"/>
            <a:ext cx="2606040" cy="329184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Shape 11"/>
          <p:cNvSpPr/>
          <p:nvPr/>
        </p:nvSpPr>
        <p:spPr>
          <a:xfrm>
            <a:off x="3337560" y="2286000"/>
            <a:ext cx="2606040" cy="73152"/>
          </a:xfrm>
          <a:prstGeom prst="rect">
            <a:avLst/>
          </a:prstGeom>
          <a:solidFill>
            <a:srgbClr val="FFD101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26060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2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3611880" y="35204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Create it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11880" y="40690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Admin taps Create and signs in Phantom. They become the Panta creator and earn the creator's cut.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71032" y="3749040"/>
            <a:ext cx="128016" cy="365760"/>
          </a:xfrm>
          <a:custGeom>
            <a:avLst/>
            <a:gdLst/>
            <a:ahLst/>
            <a:cxnLst/>
            <a:rect l="l" t="t" r="r" b="b"/>
            <a:pathLst>
              <a:path w="128016" h="365760">
                <a:moveTo>
                  <a:pt x="0" y="0"/>
                </a:moveTo>
                <a:lnTo>
                  <a:pt x="128016" y="182880"/>
                </a:lnTo>
                <a:lnTo>
                  <a:pt x="0" y="365760"/>
                </a:lnTo>
                <a:close/>
              </a:path>
            </a:pathLst>
          </a:custGeom>
          <a:solidFill>
            <a:srgbClr val="FFD101"/>
          </a:solidFill>
          <a:ln/>
        </p:spPr>
      </p:sp>
      <p:sp>
        <p:nvSpPr>
          <p:cNvPr id="18" name="Shape 16"/>
          <p:cNvSpPr/>
          <p:nvPr/>
        </p:nvSpPr>
        <p:spPr>
          <a:xfrm>
            <a:off x="6126480" y="2286000"/>
            <a:ext cx="2606040" cy="329184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Shape 17"/>
          <p:cNvSpPr/>
          <p:nvPr/>
        </p:nvSpPr>
        <p:spPr>
          <a:xfrm>
            <a:off x="6126480" y="2286000"/>
            <a:ext cx="2606040" cy="73152"/>
          </a:xfrm>
          <a:prstGeom prst="rect">
            <a:avLst/>
          </a:prstGeom>
          <a:solidFill>
            <a:srgbClr val="FFD10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26060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3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6400800" y="35204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Join it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0" y="40690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Members tap Buy YES or Buy NO on their phone, or buy from a Blink shared on X.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759952" y="3749040"/>
            <a:ext cx="128016" cy="365760"/>
          </a:xfrm>
          <a:custGeom>
            <a:avLst/>
            <a:gdLst/>
            <a:ahLst/>
            <a:cxnLst/>
            <a:rect l="l" t="t" r="r" b="b"/>
            <a:pathLst>
              <a:path w="128016" h="365760">
                <a:moveTo>
                  <a:pt x="0" y="0"/>
                </a:moveTo>
                <a:lnTo>
                  <a:pt x="128016" y="182880"/>
                </a:lnTo>
                <a:lnTo>
                  <a:pt x="0" y="365760"/>
                </a:lnTo>
                <a:close/>
              </a:path>
            </a:pathLst>
          </a:custGeom>
          <a:solidFill>
            <a:srgbClr val="FFD101"/>
          </a:solidFill>
          <a:ln/>
        </p:spPr>
      </p:sp>
      <p:sp>
        <p:nvSpPr>
          <p:cNvPr id="24" name="Shape 22"/>
          <p:cNvSpPr/>
          <p:nvPr/>
        </p:nvSpPr>
        <p:spPr>
          <a:xfrm>
            <a:off x="8915400" y="2286000"/>
            <a:ext cx="2606040" cy="3291840"/>
          </a:xfrm>
          <a:prstGeom prst="rect">
            <a:avLst/>
          </a:prstGeom>
          <a:solidFill>
            <a:srgbClr val="0C3C56"/>
          </a:solidFill>
          <a:ln/>
        </p:spPr>
      </p:sp>
      <p:sp>
        <p:nvSpPr>
          <p:cNvPr id="25" name="Shape 23"/>
          <p:cNvSpPr/>
          <p:nvPr/>
        </p:nvSpPr>
        <p:spPr>
          <a:xfrm>
            <a:off x="8915400" y="2286000"/>
            <a:ext cx="2606040" cy="73152"/>
          </a:xfrm>
          <a:prstGeom prst="rect">
            <a:avLst/>
          </a:prstGeom>
          <a:solidFill>
            <a:srgbClr val="FFD101"/>
          </a:solidFill>
          <a:ln/>
        </p:spPr>
      </p:sp>
      <p:sp>
        <p:nvSpPr>
          <p:cNvPr id="26" name="Text 24"/>
          <p:cNvSpPr/>
          <p:nvPr/>
        </p:nvSpPr>
        <p:spPr>
          <a:xfrm>
            <a:off x="9189720" y="26060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4</a:t>
            </a:r>
            <a:endParaRPr lang="en-US" sz="4800" dirty="0"/>
          </a:p>
        </p:txBody>
      </p:sp>
      <p:sp>
        <p:nvSpPr>
          <p:cNvPr id="27" name="Text 25"/>
          <p:cNvSpPr/>
          <p:nvPr/>
        </p:nvSpPr>
        <p:spPr>
          <a:xfrm>
            <a:off x="9189720" y="35204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Settle it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189720" y="40690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When the result is in, the bot posts a receipt: who backed which side, stake and payout.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Pot never holds keys or money. Every payment, buy and claim is signed by the user in their own wallet.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62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POT</a:t>
            </a:r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·  powered by Panta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Panta API Sidetrack · Colosseum Crypto World's Fair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8655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The AI writes a </a:t>
            </a:r>
            <a:pPr indent="0" marL="0">
              <a:buNone/>
            </a:pPr>
            <a:r>
              <a:rPr lang="en-US" sz="30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fair</a:t>
            </a:r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 market, and says no to bad ones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0" y="134600"/>
                </a:moveTo>
                <a:lnTo>
                  <a:pt x="52669" y="81930"/>
                </a:lnTo>
                <a:lnTo>
                  <a:pt x="111191" y="146304"/>
                </a:lnTo>
                <a:lnTo>
                  <a:pt x="239939" y="11704"/>
                </a:lnTo>
                <a:lnTo>
                  <a:pt x="292608" y="64374"/>
                </a:lnTo>
                <a:lnTo>
                  <a:pt x="111191" y="263347"/>
                </a:lnTo>
                <a:close/>
              </a:path>
            </a:pathLst>
          </a:custGeom>
          <a:solidFill>
            <a:srgbClr val="FFD101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3774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Buying closes at kick-off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278892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Checked on the server. If the start time is unknown, Pot asks.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11880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0" y="134600"/>
                </a:moveTo>
                <a:lnTo>
                  <a:pt x="52669" y="81930"/>
                </a:lnTo>
                <a:lnTo>
                  <a:pt x="111191" y="146304"/>
                </a:lnTo>
                <a:lnTo>
                  <a:pt x="239939" y="11704"/>
                </a:lnTo>
                <a:lnTo>
                  <a:pt x="292608" y="64374"/>
                </a:lnTo>
                <a:lnTo>
                  <a:pt x="111191" y="263347"/>
                </a:lnTo>
                <a:close/>
              </a:path>
            </a:pathLst>
          </a:custGeom>
          <a:solidFill>
            <a:srgbClr val="FFD101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661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Personal bets get a polite no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397764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"Will Tolu pay me back?" can't be settled by a public source, so Pot suggests one that can.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800600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0" y="134600"/>
                </a:moveTo>
                <a:lnTo>
                  <a:pt x="52669" y="81930"/>
                </a:lnTo>
                <a:lnTo>
                  <a:pt x="111191" y="146304"/>
                </a:lnTo>
                <a:lnTo>
                  <a:pt x="239939" y="11704"/>
                </a:lnTo>
                <a:lnTo>
                  <a:pt x="292608" y="64374"/>
                </a:lnTo>
                <a:lnTo>
                  <a:pt x="111191" y="263347"/>
                </a:lnTo>
                <a:close/>
              </a:path>
            </a:pathLst>
          </a:custGeom>
          <a:solidFill>
            <a:srgbClr val="FFD101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7548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Big questions get split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51560" y="516636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"Who wins BBNaija?" becomes a few YES/NO markets the admin picks, because Panta markets are binary.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0393" y="832104"/>
            <a:ext cx="4076495" cy="5102352"/>
          </a:xfrm>
          <a:prstGeom prst="rect">
            <a:avLst/>
          </a:prstGeom>
          <a:solidFill>
            <a:srgbClr val="0F0F0F"/>
          </a:solidFill>
          <a:ln w="12700">
            <a:solidFill>
              <a:srgbClr val="4A4A4A"/>
            </a:solidFill>
            <a:prstDash val="solid"/>
          </a:ln>
        </p:spPr>
      </p:sp>
      <p:pic>
        <p:nvPicPr>
          <p:cNvPr id="16" name="Image 0" descr="/workspace/slides/pot-deck-3pKWgb/img/dra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6969" y="868680"/>
            <a:ext cx="4003343" cy="5029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636969" y="5989320"/>
            <a:ext cx="40033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/new draft in Telegram (practice mode)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62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POT</a:t>
            </a:r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·  powered by Panta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Panta API Sidetrack · Colosseum Crypto World's Fair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8655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Buy from the chat, the website, or </a:t>
            </a:r>
            <a:pPr indent="0" marL="0">
              <a:buNone/>
            </a:pPr>
            <a:r>
              <a:rPr lang="en-US" sz="30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a post on X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5760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Phantom on the web page. </a:t>
            </a:r>
            <a:pPr indent="0" marL="0">
              <a:buNone/>
            </a:pPr>
            <a:r>
              <a:rPr lang="en-US" sz="15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Tap YES or NO, pick $2, $5, $10 or any amount, sign. "Open in Phantom" on mobile.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Blink on X. </a:t>
            </a:r>
            <a:pPr indent="0" marL="0">
              <a:buNone/>
            </a:pPr>
            <a:r>
              <a:rPr lang="en-US" sz="15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Share the market link and Phantom or Backpack users see buy buttons right inside the post. Pot serves its own Solana Actions.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Credit for bringing people. </a:t>
            </a:r>
            <a:pPr indent="0" marL="0">
              <a:buNone/>
            </a:pPr>
            <a:r>
              <a:rPr lang="en-US" sz="15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buy carries the group's or member's link, which feeds the /top leaderboard.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12064" y="4398264"/>
            <a:ext cx="5833872" cy="1869868"/>
          </a:xfrm>
          <a:prstGeom prst="rect">
            <a:avLst/>
          </a:prstGeom>
          <a:solidFill>
            <a:srgbClr val="0F0F0F"/>
          </a:solidFill>
          <a:ln w="12700">
            <a:solidFill>
              <a:srgbClr val="4A4A4A"/>
            </a:solidFill>
            <a:prstDash val="solid"/>
          </a:ln>
        </p:spPr>
      </p:sp>
      <p:pic>
        <p:nvPicPr>
          <p:cNvPr id="8" name="Image 0" descr="/workspace/slides/pot-deck-3pKWgb/img/bu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434840"/>
            <a:ext cx="5760720" cy="179671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940694" y="832104"/>
            <a:ext cx="2736194" cy="5330952"/>
          </a:xfrm>
          <a:prstGeom prst="rect">
            <a:avLst/>
          </a:prstGeom>
          <a:solidFill>
            <a:srgbClr val="0F0F0F"/>
          </a:solidFill>
          <a:ln w="12700">
            <a:solidFill>
              <a:srgbClr val="4A4A4A"/>
            </a:solidFill>
            <a:prstDash val="solid"/>
          </a:ln>
        </p:spPr>
      </p:sp>
      <p:pic>
        <p:nvPicPr>
          <p:cNvPr id="10" name="Image 1" descr="/workspace/slides/pot-deck-3pKWgb/img/bl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7270" y="868680"/>
            <a:ext cx="2663042" cy="5257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520070" y="6172200"/>
            <a:ext cx="31202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Blink preview (practice market, demo data)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62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POT</a:t>
            </a:r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·  powered by Panta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Panta API Sidetrack · Colosseum Crypto World's Fair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8655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12064" y="832104"/>
            <a:ext cx="4243598" cy="5468112"/>
          </a:xfrm>
          <a:prstGeom prst="rect">
            <a:avLst/>
          </a:prstGeom>
          <a:solidFill>
            <a:srgbClr val="0F0F0F"/>
          </a:solidFill>
          <a:ln w="12700">
            <a:solidFill>
              <a:srgbClr val="4A4A4A"/>
            </a:solidFill>
            <a:prstDash val="solid"/>
          </a:ln>
        </p:spPr>
      </p:sp>
      <p:pic>
        <p:nvPicPr>
          <p:cNvPr id="6" name="Image 0" descr="/workspace/slides/pot-deck-3pKWgb/img/recei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68680"/>
            <a:ext cx="4170446" cy="5394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59166" y="960120"/>
            <a:ext cx="822960" cy="182880"/>
          </a:xfrm>
          <a:custGeom>
            <a:avLst/>
            <a:gdLst/>
            <a:ahLst/>
            <a:cxnLst/>
            <a:rect l="l" t="t" r="r" b="b"/>
            <a:pathLst>
              <a:path w="822960" h="182880">
                <a:moveTo>
                  <a:pt x="0" y="182880"/>
                </a:moveTo>
                <a:lnTo>
                  <a:pt x="59500" y="0"/>
                </a:lnTo>
                <a:lnTo>
                  <a:pt x="103035" y="0"/>
                </a:lnTo>
                <a:lnTo>
                  <a:pt x="43535" y="182880"/>
                </a:lnTo>
                <a:close/>
                <a:moveTo>
                  <a:pt x="119988" y="182880"/>
                </a:moveTo>
                <a:lnTo>
                  <a:pt x="179488" y="0"/>
                </a:lnTo>
                <a:lnTo>
                  <a:pt x="223022" y="0"/>
                </a:lnTo>
                <a:lnTo>
                  <a:pt x="163522" y="182880"/>
                </a:lnTo>
                <a:close/>
                <a:moveTo>
                  <a:pt x="239975" y="182880"/>
                </a:moveTo>
                <a:lnTo>
                  <a:pt x="299475" y="0"/>
                </a:lnTo>
                <a:lnTo>
                  <a:pt x="343010" y="0"/>
                </a:lnTo>
                <a:lnTo>
                  <a:pt x="283510" y="182880"/>
                </a:lnTo>
                <a:close/>
                <a:moveTo>
                  <a:pt x="359963" y="182880"/>
                </a:moveTo>
                <a:lnTo>
                  <a:pt x="419463" y="0"/>
                </a:lnTo>
                <a:lnTo>
                  <a:pt x="462997" y="0"/>
                </a:lnTo>
                <a:lnTo>
                  <a:pt x="403497" y="182880"/>
                </a:lnTo>
                <a:close/>
                <a:moveTo>
                  <a:pt x="479950" y="182880"/>
                </a:moveTo>
                <a:lnTo>
                  <a:pt x="539450" y="0"/>
                </a:lnTo>
                <a:lnTo>
                  <a:pt x="582985" y="0"/>
                </a:lnTo>
                <a:lnTo>
                  <a:pt x="523485" y="182880"/>
                </a:lnTo>
                <a:close/>
                <a:moveTo>
                  <a:pt x="599938" y="182880"/>
                </a:moveTo>
                <a:lnTo>
                  <a:pt x="659438" y="0"/>
                </a:lnTo>
                <a:lnTo>
                  <a:pt x="702972" y="0"/>
                </a:lnTo>
                <a:lnTo>
                  <a:pt x="643472" y="182880"/>
                </a:lnTo>
                <a:close/>
                <a:moveTo>
                  <a:pt x="719925" y="182880"/>
                </a:moveTo>
                <a:lnTo>
                  <a:pt x="779425" y="0"/>
                </a:lnTo>
                <a:lnTo>
                  <a:pt x="822960" y="0"/>
                </a:lnTo>
                <a:lnTo>
                  <a:pt x="763460" y="182880"/>
                </a:lnTo>
                <a:close/>
              </a:path>
            </a:pathLst>
          </a:custGeom>
          <a:solidFill>
            <a:srgbClr val="FFD101"/>
          </a:solidFill>
          <a:ln/>
        </p:spPr>
      </p:sp>
      <p:sp>
        <p:nvSpPr>
          <p:cNvPr id="8" name="Text 5"/>
          <p:cNvSpPr/>
          <p:nvPr/>
        </p:nvSpPr>
        <p:spPr>
          <a:xfrm>
            <a:off x="5359166" y="1325880"/>
            <a:ext cx="62811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The receipt is </a:t>
            </a:r>
            <a:pPr indent="0" marL="0">
              <a:buNone/>
            </a:pPr>
            <a:r>
              <a:rPr lang="en-US" sz="3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the product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359166" y="2514600"/>
            <a:ext cx="62811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When a market settles, Pot posts one receipt in the group: the result, the final pot, the creator's cut, and every member's side, stake and payout.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359166" y="383133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37744" h="237744">
                <a:moveTo>
                  <a:pt x="0" y="109362"/>
                </a:moveTo>
                <a:lnTo>
                  <a:pt x="42794" y="66568"/>
                </a:lnTo>
                <a:lnTo>
                  <a:pt x="90343" y="118872"/>
                </a:lnTo>
                <a:lnTo>
                  <a:pt x="194950" y="9510"/>
                </a:lnTo>
                <a:lnTo>
                  <a:pt x="237744" y="52304"/>
                </a:lnTo>
                <a:lnTo>
                  <a:pt x="90343" y="213970"/>
                </a:lnTo>
                <a:close/>
              </a:path>
            </a:pathLst>
          </a:custGeom>
          <a:solidFill>
            <a:srgbClr val="FFD101"/>
          </a:solidFill>
          <a:ln/>
        </p:spPr>
      </p:sp>
      <p:sp>
        <p:nvSpPr>
          <p:cNvPr id="11" name="Text 8"/>
          <p:cNvSpPr/>
          <p:nvPr/>
        </p:nvSpPr>
        <p:spPr>
          <a:xfrm>
            <a:off x="5770646" y="3794760"/>
            <a:ext cx="586966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 turns "I told you so" into proof people screenshot.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359166" y="451713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37744" h="237744">
                <a:moveTo>
                  <a:pt x="0" y="109362"/>
                </a:moveTo>
                <a:lnTo>
                  <a:pt x="42794" y="66568"/>
                </a:lnTo>
                <a:lnTo>
                  <a:pt x="90343" y="118872"/>
                </a:lnTo>
                <a:lnTo>
                  <a:pt x="194950" y="9510"/>
                </a:lnTo>
                <a:lnTo>
                  <a:pt x="237744" y="52304"/>
                </a:lnTo>
                <a:lnTo>
                  <a:pt x="90343" y="213970"/>
                </a:lnTo>
                <a:close/>
              </a:path>
            </a:pathLst>
          </a:custGeom>
          <a:solidFill>
            <a:srgbClr val="FFD101"/>
          </a:solidFill>
          <a:ln/>
        </p:spPr>
      </p:sp>
      <p:sp>
        <p:nvSpPr>
          <p:cNvPr id="13" name="Text 10"/>
          <p:cNvSpPr/>
          <p:nvPr/>
        </p:nvSpPr>
        <p:spPr>
          <a:xfrm>
            <a:off x="5770646" y="4480560"/>
            <a:ext cx="586966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Payout maths follows Panta's rules, marked "approx" until Panta's 1-hour dispute window ends.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359166" y="520293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37744" h="237744">
                <a:moveTo>
                  <a:pt x="0" y="109362"/>
                </a:moveTo>
                <a:lnTo>
                  <a:pt x="42794" y="66568"/>
                </a:lnTo>
                <a:lnTo>
                  <a:pt x="90343" y="118872"/>
                </a:lnTo>
                <a:lnTo>
                  <a:pt x="194950" y="9510"/>
                </a:lnTo>
                <a:lnTo>
                  <a:pt x="237744" y="52304"/>
                </a:lnTo>
                <a:lnTo>
                  <a:pt x="90343" y="213970"/>
                </a:lnTo>
                <a:close/>
              </a:path>
            </a:pathLst>
          </a:custGeom>
          <a:solidFill>
            <a:srgbClr val="FFD101"/>
          </a:solidFill>
          <a:ln/>
        </p:spPr>
      </p:sp>
      <p:sp>
        <p:nvSpPr>
          <p:cNvPr id="15" name="Text 12"/>
          <p:cNvSpPr/>
          <p:nvPr/>
        </p:nvSpPr>
        <p:spPr>
          <a:xfrm>
            <a:off x="5770646" y="5166360"/>
            <a:ext cx="586966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One-sided markets get honest wording: nobody won or lost.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359166" y="5943600"/>
            <a:ext cx="62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Demo receipt from Pot's test group (practice money).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62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POT</a:t>
            </a:r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·  powered by Panta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Panta API Sidetrack · Colosseum Crypto World's Fair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8655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Every Panta API feature, and </a:t>
            </a:r>
            <a:pPr indent="0" marL="0">
              <a:buNone/>
            </a:pPr>
            <a:r>
              <a:rPr lang="en-US" sz="30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where Pot uses it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15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Panta endpoints, from making a market to claiming the creator's cut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Checked read-only against the live API (scripts/live-probe.mts). Full flow runs end to end in the sandbox (scripts/sandbox-e2e.ts). 177 automated tests.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920240"/>
          <a:ext cx="802843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00400"/>
                <a:gridCol w="32735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Russo One" pitchFamily="34" charset="0"/>
                          <a:ea typeface="Russo One" pitchFamily="34" charset="-122"/>
                          <a:cs typeface="Russo One" pitchFamily="34" charset="-120"/>
                        </a:rPr>
                        <a:t>Panta feature</a:t>
                      </a:r>
                      <a:endParaRPr lang="en-US" sz="1200" dirty="0">
                        <a:latin typeface="Russo One" charset="0"/>
                        <a:ea typeface="Russo One" charset="0"/>
                        <a:cs typeface="Russo One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10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Russo One" pitchFamily="34" charset="0"/>
                          <a:ea typeface="Russo One" pitchFamily="34" charset="-122"/>
                          <a:cs typeface="Russo One" pitchFamily="34" charset="-120"/>
                        </a:rPr>
                        <a:t>Endpoints</a:t>
                      </a:r>
                      <a:endParaRPr lang="en-US" sz="1200" dirty="0">
                        <a:latin typeface="Russo One" charset="0"/>
                        <a:ea typeface="Russo One" charset="0"/>
                        <a:cs typeface="Russo One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10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Russo One" pitchFamily="34" charset="0"/>
                          <a:ea typeface="Russo One" pitchFamily="34" charset="-122"/>
                          <a:cs typeface="Russo One" pitchFamily="34" charset="-120"/>
                        </a:rPr>
                        <a:t>Where Pot uses it</a:t>
                      </a:r>
                      <a:endParaRPr lang="en-US" sz="1200" dirty="0">
                        <a:latin typeface="Russo One" charset="0"/>
                        <a:ea typeface="Russo One" charset="0"/>
                        <a:cs typeface="Russo One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10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Market data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GET /markets/ · /markets/{id}/ · /markets/{id}/trades/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Live cards in chat (/panta), home page, market page, receipts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Positions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GET /positions/ · /wallets/{w}/trades/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/mine, claim links, "first-ever Panta trade"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Primary buys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primaryorderquote → build → submit → verify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Buy YES/NO on the web page and in Blinks on X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Attribution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POST /trades/ (userId)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Credit to the group and member link, /top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Market creation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markets/create/quote → build → register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Admin taps Create; fee checked against $20 / $50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Claims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claim/build · claim/creator-fees/build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Winnings and the community owner's creator cut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62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POT</a:t>
            </a:r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·  powered by Panta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Panta API Sidetrack · Colosseum Crypto World's Fair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8655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Every Telegram group becomes a </a:t>
            </a:r>
            <a:pPr indent="0" marL="0">
              <a:buNone/>
            </a:pPr>
            <a:r>
              <a:rPr lang="en-US" sz="3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Panta venue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108960" cy="685800"/>
          </a:xfrm>
          <a:prstGeom prst="roundRect">
            <a:avLst>
              <a:gd name="adj" fmla="val 13333"/>
            </a:avLst>
          </a:prstGeom>
          <a:solidFill>
            <a:srgbClr val="3333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500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BBNaija and reality-TV fans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3108960" cy="685800"/>
          </a:xfrm>
          <a:prstGeom prst="roundRect">
            <a:avLst>
              <a:gd name="adj" fmla="val 13333"/>
            </a:avLst>
          </a:prstGeom>
          <a:solidFill>
            <a:srgbClr val="333333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186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Music and movie stans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3108960" cy="685800"/>
          </a:xfrm>
          <a:prstGeom prst="roundRect">
            <a:avLst>
              <a:gd name="adj" fmla="val 13333"/>
            </a:avLst>
          </a:prstGeom>
          <a:solidFill>
            <a:srgbClr val="333333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0873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Football and politics chats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3108960" cy="685800"/>
          </a:xfrm>
          <a:prstGeom prst="roundRect">
            <a:avLst>
              <a:gd name="adj" fmla="val 13333"/>
            </a:avLst>
          </a:prstGeom>
          <a:solidFill>
            <a:srgbClr val="0C3C56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956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Influencer communities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794760" y="3657600"/>
            <a:ext cx="731520" cy="0"/>
          </a:xfrm>
          <a:prstGeom prst="line">
            <a:avLst/>
          </a:prstGeom>
          <a:noFill/>
          <a:ln w="38100">
            <a:solidFill>
              <a:srgbClr val="FFD10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17720" y="2788920"/>
            <a:ext cx="2103120" cy="1737360"/>
          </a:xfrm>
          <a:prstGeom prst="roundRect">
            <a:avLst>
              <a:gd name="adj" fmla="val 7895"/>
            </a:avLst>
          </a:prstGeom>
          <a:solidFill>
            <a:srgbClr val="FFD101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3063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62626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POT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4617720" y="3749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bot + website + Blinks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3657600"/>
            <a:ext cx="731520" cy="0"/>
          </a:xfrm>
          <a:prstGeom prst="line">
            <a:avLst/>
          </a:prstGeom>
          <a:noFill/>
          <a:ln w="38100">
            <a:solidFill>
              <a:srgbClr val="FFD10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35240" y="2788920"/>
            <a:ext cx="1737360" cy="1737360"/>
          </a:xfrm>
          <a:prstGeom prst="roundRect">
            <a:avLst>
              <a:gd name="adj" fmla="val 7895"/>
            </a:avLst>
          </a:prstGeom>
          <a:solidFill>
            <a:srgbClr val="0C3C56"/>
          </a:solidFill>
          <a:ln/>
        </p:spPr>
      </p:sp>
      <p:sp>
        <p:nvSpPr>
          <p:cNvPr id="20" name="Text 18"/>
          <p:cNvSpPr/>
          <p:nvPr/>
        </p:nvSpPr>
        <p:spPr>
          <a:xfrm>
            <a:off x="7635240" y="32004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PANTA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63524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markets on Solana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92640" y="22402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Community owner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92640" y="258775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earns the creator's cut on every market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92640" y="33832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Members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692640" y="373075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play with friends, from their phones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692640" y="45262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Panta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92640" y="487375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people, local markets, real volume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Pot gives Panta distribution: it brings people to Panta from the chats where the debates already happen. Community owners earn the creator's cut.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2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POT</a:t>
            </a:r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·  powered by Panta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Panta API Sidetrack · Colosseum Crypto World's Fair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8655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An honest sandbox submission. </a:t>
            </a:r>
            <a:pPr indent="0" marL="0">
              <a:buNone/>
            </a:pPr>
            <a:r>
              <a:rPr lang="en-US" sz="28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Live is one switch away.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67665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88920"/>
                <a:gridCol w="2788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Russo One" charset="0"/>
                        <a:ea typeface="Russo One" charset="0"/>
                        <a:cs typeface="Russo One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10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62626"/>
                          </a:solidFill>
                          <a:latin typeface="Russo One" pitchFamily="34" charset="0"/>
                          <a:ea typeface="Russo One" pitchFamily="34" charset="-122"/>
                          <a:cs typeface="Russo One" pitchFamily="34" charset="-120"/>
                        </a:rPr>
                        <a:t>Practice (running now)</a:t>
                      </a:r>
                      <a:endParaRPr lang="en-US" sz="1400" dirty="0">
                        <a:latin typeface="Russo One" charset="0"/>
                        <a:ea typeface="Russo One" charset="0"/>
                        <a:cs typeface="Russo One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10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62626"/>
                          </a:solidFill>
                          <a:latin typeface="Russo One" pitchFamily="34" charset="0"/>
                          <a:ea typeface="Russo One" pitchFamily="34" charset="-122"/>
                          <a:cs typeface="Russo One" pitchFamily="34" charset="-120"/>
                        </a:rPr>
                        <a:t>Live (built, switched off)</a:t>
                      </a:r>
                      <a:endParaRPr lang="en-US" sz="1400" dirty="0">
                        <a:latin typeface="Russo One" charset="0"/>
                        <a:ea typeface="Russo One" charset="0"/>
                        <a:cs typeface="Russo One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10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Money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None. Wallets sign a free message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Real USDC on Solana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Markets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Tracked by Pot with Panta's payout rules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Created on Panta by the admin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Result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Group admin runs /settle yes|no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Panta's own result, then receipt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Panta data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Real live Panta markets and prices in the chat (/panta)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Same, plus buys on them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Checked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Sandbox end-to-end script; real groups and phones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2F2F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Read-only live probe (live-probe.mts)</a:t>
                      </a:r>
                      <a:endParaRPr lang="en-US" sz="12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4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3492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switch: scripts/go-live.sh (GO-LIVE.md) · back: scripts/rollback-to-practice.sh. The demo video shows the live flow at launch.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863840" y="2103120"/>
            <a:ext cx="3776472" cy="3886200"/>
          </a:xfrm>
          <a:prstGeom prst="rect">
            <a:avLst/>
          </a:prstGeom>
          <a:solidFill>
            <a:srgbClr val="0C3C56"/>
          </a:solidFill>
          <a:ln/>
        </p:spPr>
      </p:sp>
      <p:sp>
        <p:nvSpPr>
          <p:cNvPr id="9" name="Text 6"/>
          <p:cNvSpPr/>
          <p:nvPr/>
        </p:nvSpPr>
        <p:spPr>
          <a:xfrm>
            <a:off x="8138160" y="2286000"/>
            <a:ext cx="3227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Practice run with a real community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138160" y="30175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[N]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9189720" y="310896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practice markets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38160" y="367588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[N]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9189720" y="3767328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people who bought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38160" y="433425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[N]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9189720" y="4425696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buys from a shared link or Blink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138160" y="499262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[N]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9189720" y="508406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receipts posted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138160" y="553212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[GROUP NAME], [MEMBERS] members. Replace before submitting.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2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POT</a:t>
            </a:r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·  powered by Panta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Panta API Sidetrack · Colosseum Crypto World's Fair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8655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692640" y="0"/>
            <a:ext cx="1097280" cy="6858000"/>
          </a:xfrm>
          <a:custGeom>
            <a:avLst/>
            <a:gdLst/>
            <a:ahLst/>
            <a:cxnLst/>
            <a:rect l="l" t="t" r="r" b="b"/>
            <a:pathLst>
              <a:path w="1097280" h="6858000">
                <a:moveTo>
                  <a:pt x="0" y="6858000"/>
                </a:moveTo>
                <a:lnTo>
                  <a:pt x="987552" y="0"/>
                </a:lnTo>
                <a:lnTo>
                  <a:pt x="1097280" y="0"/>
                </a:lnTo>
                <a:lnTo>
                  <a:pt x="109728" y="6858000"/>
                </a:lnTo>
                <a:close/>
              </a:path>
            </a:pathLst>
          </a:custGeom>
          <a:solidFill>
            <a:srgbClr val="FFD101"/>
          </a:solidFill>
          <a:ln/>
        </p:spPr>
      </p:sp>
      <p:sp>
        <p:nvSpPr>
          <p:cNvPr id="6" name="Shape 4"/>
          <p:cNvSpPr/>
          <p:nvPr/>
        </p:nvSpPr>
        <p:spPr>
          <a:xfrm>
            <a:off x="10469880" y="0"/>
            <a:ext cx="1721815" cy="6858000"/>
          </a:xfrm>
          <a:custGeom>
            <a:avLst/>
            <a:gdLst/>
            <a:ahLst/>
            <a:cxnLst/>
            <a:rect l="l" t="t" r="r" b="b"/>
            <a:pathLst>
              <a:path w="1721815" h="6858000">
                <a:moveTo>
                  <a:pt x="688726" y="0"/>
                </a:moveTo>
                <a:lnTo>
                  <a:pt x="1721815" y="0"/>
                </a:lnTo>
                <a:lnTo>
                  <a:pt x="1721815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C3C5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777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What's </a:t>
            </a:r>
            <a:pPr indent="0" marL="0">
              <a:buNone/>
            </a:pPr>
            <a:r>
              <a:rPr lang="en-US" sz="3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next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97280" y="188366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 live in one group: the ~$21 smoke test in GO-LIVE.md, then one real market.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97280" y="2633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Bring in 2-3 Nigerian football and crypto communities, then influencer communities.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33832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Faster receipts, one-tap match-day markets, and an owner dashboard.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97280" y="413308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WhatsApp communities and Discord servers next. The core isn't tied to Telegram.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859536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2120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D101"/>
                </a:solidFill>
                <a:latin typeface="Russo One" pitchFamily="34" charset="0"/>
                <a:ea typeface="Russo One" pitchFamily="34" charset="-122"/>
                <a:cs typeface="Russo One" pitchFamily="34" charset="-120"/>
              </a:rPr>
              <a:t>Try it: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@pantapotbot on Telegram  ·  pot-navy.vercel.app  ·  github.com/Baheet18/pot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5715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financial advice. Payouts shown are estimates. Powered by Panta.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Pot: prediction markets for your group chat</dc:title>
  <dc:subject>PptxGenJS Presentation</dc:subject>
  <dc:creator>Baheet Adeniji</dc:creator>
  <cp:lastModifiedBy>Baheet Adeniji</cp:lastModifiedBy>
  <cp:revision>1</cp:revision>
  <dcterms:created xsi:type="dcterms:W3CDTF">2026-10-10T16:31:34Z</dcterms:created>
  <dcterms:modified xsi:type="dcterms:W3CDTF">2026-10-10T16:31:34Z</dcterms:modified>
</cp:coreProperties>
</file>